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Information Gain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B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SSLfinal_State</c:v>
                  </c:pt>
                  <c:pt idx="1">
                    <c:v>URL_of_Anchor</c:v>
                  </c:pt>
                  <c:pt idx="2">
                    <c:v>Prefix_Suffix</c:v>
                  </c:pt>
                  <c:pt idx="3">
                    <c:v>web_traffic</c:v>
                  </c:pt>
                  <c:pt idx="4">
                    <c:v>having_Sub_Domain</c:v>
                  </c:pt>
                  <c:pt idx="5">
                    <c:v>Links_in_tags</c:v>
                  </c:pt>
                  <c:pt idx="6">
                    <c:v>Request_URL</c:v>
                  </c:pt>
                  <c:pt idx="7">
                    <c:v>SFH</c:v>
                  </c:pt>
                  <c:pt idx="8">
                    <c:v>Domain_registeration_length</c:v>
                  </c:pt>
                  <c:pt idx="9">
                    <c:v>Google_Index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0.499</c:v>
                </c:pt>
                <c:pt idx="1">
                  <c:v>0.477</c:v>
                </c:pt>
                <c:pt idx="2">
                  <c:v>0.123</c:v>
                </c:pt>
                <c:pt idx="3">
                  <c:v>0.115</c:v>
                </c:pt>
                <c:pt idx="4">
                  <c:v>0.11</c:v>
                </c:pt>
                <c:pt idx="5">
                  <c:v>0.047</c:v>
                </c:pt>
                <c:pt idx="6">
                  <c:v>0.047</c:v>
                </c:pt>
                <c:pt idx="7">
                  <c:v>0.037</c:v>
                </c:pt>
                <c:pt idx="8">
                  <c:v>0.037</c:v>
                </c:pt>
                <c:pt idx="9">
                  <c:v>0.012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0F1B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822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МАШИННОЕ ОБУЧЕНИЕ · ПРОЕКТ ·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ДЕТЕКТОР ФИШИНГОВЫХ URL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Сравнительный анализ моделей классического ML на Java + Weka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365760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251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Мысливец Леонид Владимирович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БСМО-12-25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МИРЭА · ИКБ · Кафедра КБ-9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Руководитель: Ксенофонтов И. О.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326880" y="4572000"/>
            <a:ext cx="1005840" cy="1005840"/>
          </a:xfrm>
          <a:prstGeom prst="rect">
            <a:avLst/>
          </a:prstGeom>
          <a:solidFill>
            <a:srgbClr val="1A2A52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0" y="4572000"/>
            <a:ext cx="1005840" cy="1005840"/>
          </a:xfrm>
          <a:prstGeom prst="rect">
            <a:avLst/>
          </a:prstGeom>
          <a:solidFill>
            <a:srgbClr val="06B6D4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0" y="5760720"/>
            <a:ext cx="1005840" cy="1005840"/>
          </a:xfrm>
          <a:prstGeom prst="rect">
            <a:avLst/>
          </a:prstGeom>
          <a:solidFill>
            <a:srgbClr val="1A2A52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0" y="5760720"/>
            <a:ext cx="1005840" cy="1005840"/>
          </a:xfrm>
          <a:prstGeom prst="rect">
            <a:avLst/>
          </a:prstGeom>
          <a:solidFill>
            <a:srgbClr val="1A2A52"/>
          </a:solidFill>
          <a:ln w="635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3520440" cy="3291840"/>
          </a:xfrm>
          <a:prstGeom prst="rect">
            <a:avLst/>
          </a:prstGeom>
          <a:solidFill>
            <a:srgbClr val="E0E7FF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73152" cy="3291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№1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 атак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охвату пользователей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(ENISA Threat Landscape 2025)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1554480"/>
            <a:ext cx="3520440" cy="3291840"/>
          </a:xfrm>
          <a:prstGeom prst="rect">
            <a:avLst/>
          </a:prstGeom>
          <a:solidFill>
            <a:srgbClr val="E0E7FF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1554480"/>
            <a:ext cx="73152" cy="3291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7830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ТОП-3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452628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 проникновения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3566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корпоративные атаки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(IBM X-Force 2025)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520440" cy="3291840"/>
          </a:xfrm>
          <a:prstGeom prst="rect">
            <a:avLst/>
          </a:prstGeom>
          <a:solidFill>
            <a:srgbClr val="E0E7FF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554480"/>
            <a:ext cx="73152" cy="3291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7830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832104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инцидентов в РФ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3566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начинаются с фишинговой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ссылки или письма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Антифишинг — обязательный слой защиты в Safe Browsing, PhishTank, корпоративных Secure Web Gateways.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56539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· МО · БСМО-12-25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5486400" cy="438912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Бинарная классификация URL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Дано: </a:t>
            </a:r>
            <a:pPr indent="0" marL="0">
              <a:buNone/>
            </a:pPr>
            <a:r>
              <a:rPr lang="en-US" sz="16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и его метаданные (30 признаков)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Найти: </a:t>
            </a:r>
            <a:pPr indent="0" marL="0">
              <a:buNone/>
            </a:pPr>
            <a:r>
              <a:rPr lang="en-US" sz="16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 — фишинг или легитимный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 −1: </a:t>
            </a:r>
            <a:pPr indent="0" marL="0">
              <a:buNone/>
            </a:pPr>
            <a:r>
              <a:rPr lang="en-US" sz="16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фишинг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  +1: </a:t>
            </a:r>
            <a:pPr indent="0" marL="0">
              <a:buNone/>
            </a:pPr>
            <a:r>
              <a:rPr lang="en-US" sz="16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легитимный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0" y="1554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качества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0" y="2103120"/>
            <a:ext cx="54864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103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38160" y="2103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доля верных предсказаний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743200"/>
            <a:ext cx="54864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743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38160" y="2743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«правильных тревог»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3383280"/>
            <a:ext cx="54864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3383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8160" y="3383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найденных фишинговых URL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4023360"/>
            <a:ext cx="54864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023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38160" y="4023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гармоническое среднее P и 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4663440"/>
            <a:ext cx="54864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663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38160" y="4663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ранжирования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656539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· МО · БСМО-12-25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Phishing Websites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R., Thabtah F., McCluskey L. · University of Huddersfield · 2015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5029200" cy="109728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560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11 055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566160" y="25603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записей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5029200" cy="109728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40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566160" y="3840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признаков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5029200"/>
            <a:ext cx="5029200" cy="109728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120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/ 44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566160" y="51206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 классов (%)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0" y="24688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признаков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0" y="2880360"/>
            <a:ext cx="5760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having_IP_Address — домен является IP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URL_Length — длина URL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Shortining_Service — bit.ly / tinyurl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having_At_Symbol — наличие @ в URL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Prefix_Suffix — дефис в домене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SSLfinal_State — валидность TLS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Domain_registeration_length — стаж домена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URL_of_Anchor — внешние якоря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656539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· МО · БСМО-12-25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 технологий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11247120" cy="77724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91440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630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023360" y="14630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Современный LTS с records и pattern matching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11247120" cy="77724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377440"/>
            <a:ext cx="91440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3774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Maven 3.9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023360" y="23774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Сборка, dep-management, fat-jar через shade-plugin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11247120" cy="77724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291840"/>
            <a:ext cx="91440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918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Weka 3.8.6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23360" y="32918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ML библиотека на JVM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11247120" cy="77724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4206240"/>
            <a:ext cx="91440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2062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SLF4J 2.0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023360" y="42062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Логирование (slf4j-simple для CLI)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120640"/>
            <a:ext cx="11247120" cy="77724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5120640"/>
            <a:ext cx="91440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120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023360" y="51206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Smoke-тесты загрузчика данных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+ Weka — production-grade стек, не Python-ноутбук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56539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· МО · БСМО-12-25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проекта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17320"/>
            <a:ext cx="3505200" cy="20345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3505200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31394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CLI-аргументы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28160" y="1417320"/>
            <a:ext cx="3505200" cy="20345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A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8160" y="1417320"/>
            <a:ext cx="3505200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4511040" y="173736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DataLoader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11040" y="2377440"/>
            <a:ext cx="31394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ARFF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classIndex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99120" y="1417320"/>
            <a:ext cx="3505200" cy="20345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A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99120" y="1417320"/>
            <a:ext cx="3505200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0" y="173736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ModelTrainer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82000" y="2377440"/>
            <a:ext cx="31394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фабрика моделей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/ LR / J48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71900"/>
            <a:ext cx="3505200" cy="20345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A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71900"/>
            <a:ext cx="3505200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9194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ModelEvaluator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080" y="4732020"/>
            <a:ext cx="31394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CV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28160" y="3771900"/>
            <a:ext cx="3505200" cy="20345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A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28160" y="3771900"/>
            <a:ext cx="3505200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4511040" y="409194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FeatureAnalyzer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11040" y="4732020"/>
            <a:ext cx="31394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Gain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топ-N признаков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99120" y="3771900"/>
            <a:ext cx="3505200" cy="20345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A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99120" y="3771900"/>
            <a:ext cx="3505200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8382000" y="409194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382000" y="4732020"/>
            <a:ext cx="31394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консоль + CSV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сохранение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 · каждый модуль решает одну задачу · легко тестируется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656539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· МО · БСМО-12-25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 для сравнения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3657600" cy="420624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91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2468880"/>
            <a:ext cx="137160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деревьев, bagging + random subspace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44348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ансамбль, устойчив к корреляциям признаков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463040"/>
            <a:ext cx="3657600" cy="420624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691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617720" y="2468880"/>
            <a:ext cx="137160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2926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L2-регуляризация, maxIts = 200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7720" y="44348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интерпретируемый baseline, линейная зависимость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321040" y="1463040"/>
            <a:ext cx="3657600" cy="420624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19" name="Text 17"/>
          <p:cNvSpPr/>
          <p:nvPr/>
        </p:nvSpPr>
        <p:spPr>
          <a:xfrm>
            <a:off x="8549640" y="1691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J48 (Decision Tree)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549640" y="2468880"/>
            <a:ext cx="137160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964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49640" y="2926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C4.5, confidenceFactor = 0.25, pruning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4964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49640" y="44348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быстрый, объяснимый — production-friendly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stratified cross-validation · seed = 42 · усреднение weighted average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656539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· МО · БСМО-12-25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45720"/>
          </a:xfrm>
          <a:prstGeom prst="rect">
            <a:avLst/>
          </a:prstGeom>
          <a:solidFill>
            <a:srgbClr val="06B6D4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 AUC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Время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1.16 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 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1.31 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846320"/>
            <a:ext cx="11247120" cy="118872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4846320"/>
            <a:ext cx="91440" cy="1188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937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5349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0.972 · F1 0.972 · ROC AUC 0.996 — почти идеальное ранжирование. J48 уступает на 1.4 п.п., но в 5 раз быстрее.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656539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· МО · БСМО-12-25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Топ-10 признаков · Information Gain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45720"/>
          </a:xfrm>
          <a:prstGeom prst="rect">
            <a:avLst/>
          </a:prstGeom>
          <a:solidFill>
            <a:srgbClr val="06B6D4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77724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1417320"/>
            <a:ext cx="3200400" cy="493776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0" y="1645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сигнал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0" y="2057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SSLfinal_State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0" y="26974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Свежие Let's Encrypt-сертификаты на одноразовых доменах ловятся одним признаком.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0" y="3886200"/>
            <a:ext cx="137160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0" y="4023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сигнал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0" y="4434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URL_of_Anchor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686800" y="50749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Якоря на сторонние домены — типичный паттерн кражи учётных данных.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0" y="656539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· МО · БСМО-12-25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 · код · воспроизводимость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6858000" cy="438912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Сборка и запуск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https://github.com/sl4sh73r/phishing-url-detector.git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phishing-url-detector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mvn clean package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java -jar target/phishing-url-detector.jar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Получаем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023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 таблицу метрик в консоли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 docs/results/metrics.csv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754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 топ-10 признаков по Information Gain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0" y="1463040"/>
            <a:ext cx="4114800" cy="438912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589520" y="1463040"/>
            <a:ext cx="4114800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0" y="1783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772400" y="2331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github.com/sl4sh73r/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0" y="2651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phishing-url-detector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0" y="3200400"/>
            <a:ext cx="365760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3337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 репозитории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0" y="365760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исходный код (Maven)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JUnit-тесты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.arff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+ QUICKSTART</a:t>
            </a:r>
            <a:endParaRPr lang="en-US" sz="1300" dirty="0"/>
          </a:p>
          <a:p>
            <a:pPr marL="342900" indent="-342900">
              <a:buSzPct val="100000"/>
              <a:buChar char="■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и презентация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56539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· МО · БСМО-12-25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 и направления развития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8745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≥ 0.94 у всех трёх моделей на табличных признаках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8346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Лучшая модель — Random Forest, AUC = 0.996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7947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state и URL_of_Anchor дают 50%+ информации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4754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 чаще пропускают фишинг — нужна калибровка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Направления развития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0" y="1874520"/>
            <a:ext cx="73152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29400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градиентный бустинг — +1–2 п.п. F1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2834640"/>
            <a:ext cx="73152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2880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признаков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2940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+ host-based + content-based фичи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3794760"/>
            <a:ext cx="73152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Онлайн-обучение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29400" y="4206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стрим PhishTank/OpenPhish, борьба с drift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4754880"/>
            <a:ext cx="73152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4800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 с deny-list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29400" y="5166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+ ML + threat intel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56539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· МО · БСМО-12-25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4709160" y="3566160"/>
            <a:ext cx="27432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749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github.com/sl4sh73r/phishing-url-detector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Мысливец Л. В. · БСМО-12-25 · МИРЭА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URL Detector — защита</dc:title>
  <dc:subject>PptxGenJS Presentation</dc:subject>
  <dc:creator>Мысливец Л. В.</dc:creator>
  <cp:lastModifiedBy>Мысливец Л. В.</cp:lastModifiedBy>
  <cp:revision>1</cp:revision>
  <dcterms:created xsi:type="dcterms:W3CDTF">2026-05-13T11:31:27Z</dcterms:created>
  <dcterms:modified xsi:type="dcterms:W3CDTF">2026-05-13T11:31:27Z</dcterms:modified>
</cp:coreProperties>
</file>